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Appointments</c:v>
                </c:pt>
              </c:strCache>
            </c:strRef>
          </c:tx>
          <c:spPr>
            <a:solidFill>
              <a:srgbClr val="0F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33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HF013</c:v>
                  </c:pt>
                  <c:pt idx="1">
                    <c:v>HF014</c:v>
                  </c:pt>
                  <c:pt idx="2">
                    <c:v>HF010</c:v>
                  </c:pt>
                  <c:pt idx="3">
                    <c:v>HF001</c:v>
                  </c:pt>
                  <c:pt idx="4">
                    <c:v>HF011</c:v>
                  </c:pt>
                  <c:pt idx="5">
                    <c:v>HF006</c:v>
                  </c:pt>
                  <c:pt idx="6">
                    <c:v>HF016</c:v>
                  </c:pt>
                  <c:pt idx="7">
                    <c:v>HF008</c:v>
                  </c:pt>
                  <c:pt idx="8">
                    <c:v>HF003</c:v>
                  </c:pt>
                  <c:pt idx="9">
                    <c:v>HF012</c:v>
                  </c:pt>
                  <c:pt idx="10">
                    <c:v>HF015</c:v>
                  </c:pt>
                  <c:pt idx="11">
                    <c:v>HF017</c:v>
                  </c:pt>
                  <c:pt idx="12">
                    <c:v>HF002</c:v>
                  </c:pt>
                  <c:pt idx="13">
                    <c:v>HF009</c:v>
                  </c:pt>
                  <c:pt idx="14">
                    <c:v>HF018</c:v>
                  </c:pt>
                  <c:pt idx="15">
                    <c:v>HF020</c:v>
                  </c:pt>
                  <c:pt idx="16">
                    <c:v>HF007</c:v>
                  </c:pt>
                  <c:pt idx="17">
                    <c:v>HF005</c:v>
                  </c:pt>
                  <c:pt idx="18">
                    <c:v>HF004</c:v>
                  </c:pt>
                  <c:pt idx="19">
                    <c:v>HF019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278</c:v>
                </c:pt>
                <c:pt idx="1">
                  <c:v>276</c:v>
                </c:pt>
                <c:pt idx="2">
                  <c:v>275</c:v>
                </c:pt>
                <c:pt idx="3">
                  <c:v>273</c:v>
                </c:pt>
                <c:pt idx="4">
                  <c:v>273</c:v>
                </c:pt>
                <c:pt idx="5">
                  <c:v>269</c:v>
                </c:pt>
                <c:pt idx="6">
                  <c:v>261</c:v>
                </c:pt>
                <c:pt idx="7">
                  <c:v>257</c:v>
                </c:pt>
                <c:pt idx="8">
                  <c:v>256</c:v>
                </c:pt>
                <c:pt idx="9">
                  <c:v>249</c:v>
                </c:pt>
                <c:pt idx="10">
                  <c:v>245</c:v>
                </c:pt>
                <c:pt idx="11">
                  <c:v>243</c:v>
                </c:pt>
                <c:pt idx="12">
                  <c:v>241</c:v>
                </c:pt>
                <c:pt idx="13">
                  <c:v>241</c:v>
                </c:pt>
                <c:pt idx="14">
                  <c:v>240</c:v>
                </c:pt>
                <c:pt idx="15">
                  <c:v>237</c:v>
                </c:pt>
                <c:pt idx="16">
                  <c:v>224</c:v>
                </c:pt>
                <c:pt idx="17">
                  <c:v>223</c:v>
                </c:pt>
                <c:pt idx="18">
                  <c:v>222</c:v>
                </c:pt>
                <c:pt idx="19">
                  <c:v>217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333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0"/>
        <c:axPos val="l"/>
        <c:majorGridlines>
          <c:spPr>
            <a:ln w="635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doctor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cat>
            <c:multiLvlStrRef>
              <c:f>Sheet1!$A$2:$A$21</c:f>
              <c:multiLvlStrCache>
                <c:ptCount val="20"/>
                <c:lvl>
                  <c:pt idx="0">
                    <c:v>HF013</c:v>
                  </c:pt>
                  <c:pt idx="1">
                    <c:v>HF014</c:v>
                  </c:pt>
                  <c:pt idx="2">
                    <c:v>HF011</c:v>
                  </c:pt>
                  <c:pt idx="3">
                    <c:v>HF016</c:v>
                  </c:pt>
                  <c:pt idx="4">
                    <c:v>HF010</c:v>
                  </c:pt>
                  <c:pt idx="5">
                    <c:v>HF001</c:v>
                  </c:pt>
                  <c:pt idx="6">
                    <c:v>HF006</c:v>
                  </c:pt>
                  <c:pt idx="7">
                    <c:v>HF012</c:v>
                  </c:pt>
                  <c:pt idx="8">
                    <c:v>HF015</c:v>
                  </c:pt>
                  <c:pt idx="9">
                    <c:v>HF017</c:v>
                  </c:pt>
                  <c:pt idx="10">
                    <c:v>HF008</c:v>
                  </c:pt>
                  <c:pt idx="11">
                    <c:v>HF003</c:v>
                  </c:pt>
                  <c:pt idx="12">
                    <c:v>HF018</c:v>
                  </c:pt>
                  <c:pt idx="13">
                    <c:v>HF020</c:v>
                  </c:pt>
                  <c:pt idx="14">
                    <c:v>HF002</c:v>
                  </c:pt>
                  <c:pt idx="15">
                    <c:v>HF009</c:v>
                  </c:pt>
                  <c:pt idx="16">
                    <c:v>HF019</c:v>
                  </c:pt>
                  <c:pt idx="17">
                    <c:v>HF007</c:v>
                  </c:pt>
                  <c:pt idx="18">
                    <c:v>HF005</c:v>
                  </c:pt>
                  <c:pt idx="19">
                    <c:v>HF004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16.4</c:v>
                </c:pt>
                <c:pt idx="1">
                  <c:v>16.2</c:v>
                </c:pt>
                <c:pt idx="2">
                  <c:v>16.1</c:v>
                </c:pt>
                <c:pt idx="3">
                  <c:v>15.4</c:v>
                </c:pt>
                <c:pt idx="4">
                  <c:v>15.3</c:v>
                </c:pt>
                <c:pt idx="5">
                  <c:v>15.2</c:v>
                </c:pt>
                <c:pt idx="6">
                  <c:v>14.9</c:v>
                </c:pt>
                <c:pt idx="7">
                  <c:v>14.6</c:v>
                </c:pt>
                <c:pt idx="8">
                  <c:v>14.4</c:v>
                </c:pt>
                <c:pt idx="9">
                  <c:v>14.3</c:v>
                </c:pt>
                <c:pt idx="10">
                  <c:v>14.3</c:v>
                </c:pt>
                <c:pt idx="11">
                  <c:v>14.2</c:v>
                </c:pt>
                <c:pt idx="12">
                  <c:v>14.1</c:v>
                </c:pt>
                <c:pt idx="13">
                  <c:v>13.9</c:v>
                </c:pt>
                <c:pt idx="14">
                  <c:v>13.4</c:v>
                </c:pt>
                <c:pt idx="15">
                  <c:v>13.4</c:v>
                </c:pt>
                <c:pt idx="16">
                  <c:v>12.8</c:v>
                </c:pt>
                <c:pt idx="17">
                  <c:v>12.4</c:v>
                </c:pt>
                <c:pt idx="18">
                  <c:v>12.4</c:v>
                </c:pt>
                <c:pt idx="19">
                  <c:v>12.3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  <c:min val="0"/>
        </c:scaling>
        <c:delete val="0"/>
        <c:axPos val="l"/>
        <c:majorGridlines>
          <c:spPr>
            <a:ln w="635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0F6E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BFC8D0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Sheet1!$A$2:$A$21</c:f>
              <c:multiLvlStrCache>
                <c:ptCount val="20"/>
                <c:lvl>
                  <c:pt idx="0">
                    <c:v>HF011</c:v>
                  </c:pt>
                  <c:pt idx="1">
                    <c:v>HF001</c:v>
                  </c:pt>
                  <c:pt idx="2">
                    <c:v>HF012</c:v>
                  </c:pt>
                  <c:pt idx="3">
                    <c:v>HF018</c:v>
                  </c:pt>
                  <c:pt idx="4">
                    <c:v>HF002</c:v>
                  </c:pt>
                  <c:pt idx="5">
                    <c:v>HF008</c:v>
                  </c:pt>
                  <c:pt idx="6">
                    <c:v>HF004</c:v>
                  </c:pt>
                  <c:pt idx="7">
                    <c:v>HF019</c:v>
                  </c:pt>
                  <c:pt idx="8">
                    <c:v>HF006</c:v>
                  </c:pt>
                  <c:pt idx="9">
                    <c:v>HF009</c:v>
                  </c:pt>
                  <c:pt idx="10">
                    <c:v>HF016</c:v>
                  </c:pt>
                  <c:pt idx="11">
                    <c:v>HF017</c:v>
                  </c:pt>
                  <c:pt idx="12">
                    <c:v>HF003</c:v>
                  </c:pt>
                  <c:pt idx="13">
                    <c:v>HF010</c:v>
                  </c:pt>
                  <c:pt idx="14">
                    <c:v>HF005</c:v>
                  </c:pt>
                  <c:pt idx="15">
                    <c:v>HF015</c:v>
                  </c:pt>
                  <c:pt idx="16">
                    <c:v>HF014</c:v>
                  </c:pt>
                  <c:pt idx="17">
                    <c:v>HF013</c:v>
                  </c:pt>
                  <c:pt idx="18">
                    <c:v>HF007</c:v>
                  </c:pt>
                  <c:pt idx="19">
                    <c:v>HF020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3.19</c:v>
                </c:pt>
                <c:pt idx="1">
                  <c:v>3.12</c:v>
                </c:pt>
                <c:pt idx="2">
                  <c:v>3.08</c:v>
                </c:pt>
                <c:pt idx="3">
                  <c:v>3.02</c:v>
                </c:pt>
                <c:pt idx="4">
                  <c:v>3.02</c:v>
                </c:pt>
                <c:pt idx="5">
                  <c:v>3</c:v>
                </c:pt>
                <c:pt idx="6">
                  <c:v>2.99</c:v>
                </c:pt>
                <c:pt idx="7">
                  <c:v>2.97</c:v>
                </c:pt>
                <c:pt idx="8">
                  <c:v>2.97</c:v>
                </c:pt>
                <c:pt idx="9">
                  <c:v>2.93</c:v>
                </c:pt>
                <c:pt idx="10">
                  <c:v>2.92</c:v>
                </c:pt>
                <c:pt idx="11">
                  <c:v>2.88</c:v>
                </c:pt>
                <c:pt idx="12">
                  <c:v>2.86</c:v>
                </c:pt>
                <c:pt idx="13">
                  <c:v>2.85</c:v>
                </c:pt>
                <c:pt idx="14">
                  <c:v>2.82</c:v>
                </c:pt>
                <c:pt idx="15">
                  <c:v>2.82</c:v>
                </c:pt>
                <c:pt idx="16">
                  <c:v>2.77</c:v>
                </c:pt>
                <c:pt idx="17">
                  <c:v>2.77</c:v>
                </c:pt>
                <c:pt idx="18">
                  <c:v>2.76</c:v>
                </c:pt>
                <c:pt idx="19">
                  <c:v>2.76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3"/>
          <c:min val="2.4"/>
        </c:scaling>
        <c:delete val="0"/>
        <c:axPos val="l"/>
        <c:majorGridlines>
          <c:spPr>
            <a:ln w="635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2263F"/>
                </a:solidFill>
                <a:latin typeface="Arial"/>
              </a:rPr>
              <a:t>Bills (RWF 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RWF millions</c:v>
                </c:pt>
              </c:strCache>
            </c:strRef>
          </c:tx>
          <c:spPr>
            <a:solidFill>
              <a:srgbClr val="0F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Collected</c:v>
                  </c:pt>
                  <c:pt idx="1">
                    <c:v>Unpaid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8389.5</c:v>
                </c:pt>
                <c:pt idx="1">
                  <c:v>919.9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  <c:min val="0"/>
        </c:scaling>
        <c:delete val="0"/>
        <c:axPos val="l"/>
        <c:majorGridlines>
          <c:spPr>
            <a:ln w="635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2263F"/>
                </a:solidFill>
                <a:latin typeface="Arial"/>
              </a:rPr>
              <a:t>Insurance claims (RWF 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RWF millions</c:v>
                </c:pt>
              </c:strCache>
            </c:strRef>
          </c:tx>
          <c:spPr>
            <a:solidFill>
              <a:srgbClr val="0F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Approved</c:v>
                  </c:pt>
                  <c:pt idx="1">
                    <c:v>Pending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2443.3</c:v>
                </c:pt>
                <c:pt idx="1">
                  <c:v>2438.6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  <c:min val="0"/>
        </c:scaling>
        <c:delete val="0"/>
        <c:axPos val="l"/>
        <c:majorGridlines>
          <c:spPr>
            <a:ln w="635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2263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2263F"/>
                </a:solidFill>
                <a:latin typeface="Arial"/>
              </a:rPr>
              <a:t>Revenue by visit type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6E6E"/>
              </a:solidFill>
              <a:effectLst/>
            </c:spPr>
          </c:dPt>
          <c:dPt>
            <c:idx val="1"/>
            <c:bubble3D val="0"/>
            <c:spPr>
              <a:solidFill>
                <a:srgbClr val="12263F"/>
              </a:solidFill>
              <a:effectLst/>
            </c:spPr>
          </c:dPt>
          <c:dPt>
            <c:idx val="2"/>
            <c:bubble3D val="0"/>
            <c:spPr>
              <a:solidFill>
                <a:srgbClr val="F2A9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Follow-up</c:v>
                </c:pt>
                <c:pt idx="1">
                  <c:v>Consultation</c:v>
                </c:pt>
                <c:pt idx="2">
                  <c:v>Emergency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33.8</c:v>
                </c:pt>
                <c:pt idx="1">
                  <c:v>33.4</c:v>
                </c:pt>
                <c:pt idx="2">
                  <c:v>32.8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Hypertension</c:v>
                </c:pt>
              </c:strCache>
            </c:strRef>
          </c:tx>
          <c:spPr>
            <a:solidFill>
              <a:srgbClr val="C62828"/>
            </a:solidFill>
            <a:ln w="25400" cap="flat">
              <a:solidFill>
                <a:srgbClr val="C628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270</c:v>
                </c:pt>
                <c:pt idx="1">
                  <c:v>259</c:v>
                </c:pt>
                <c:pt idx="2">
                  <c:v>253</c:v>
                </c:pt>
                <c:pt idx="3">
                  <c:v>277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Upper Respiratory Infection</c:v>
                </c:pt>
              </c:strCache>
            </c:strRef>
          </c:tx>
          <c:spPr>
            <a:solidFill>
              <a:srgbClr val="F2A900"/>
            </a:solidFill>
            <a:ln w="25400" cap="flat">
              <a:solidFill>
                <a:srgbClr val="F2A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900"/>
              </a:solidFill>
              <a:ln w="9525" cap="flat">
                <a:solidFill>
                  <a:srgbClr val="F2A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241</c:v>
                </c:pt>
                <c:pt idx="1">
                  <c:v>260</c:v>
                </c:pt>
                <c:pt idx="2">
                  <c:v>230</c:v>
                </c:pt>
                <c:pt idx="3">
                  <c:v>273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Malaria</c:v>
                </c:pt>
              </c:strCache>
            </c:strRef>
          </c:tx>
          <c:spPr>
            <a:solidFill>
              <a:srgbClr val="0F6E6E"/>
            </a:solidFill>
            <a:ln w="25400" cap="flat">
              <a:solidFill>
                <a:srgbClr val="0F6E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6E6E"/>
              </a:solidFill>
              <a:ln w="9525" cap="flat">
                <a:solidFill>
                  <a:srgbClr val="0F6E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241</c:v>
                </c:pt>
                <c:pt idx="1">
                  <c:v>251</c:v>
                </c:pt>
                <c:pt idx="2">
                  <c:v>232</c:v>
                </c:pt>
                <c:pt idx="3">
                  <c:v>211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Diabetes</c:v>
                </c:pt>
              </c:strCache>
            </c:strRef>
          </c:tx>
          <c:spPr>
            <a:solidFill>
              <a:srgbClr val="12263F"/>
            </a:solidFill>
            <a:ln w="25400" cap="flat">
              <a:solidFill>
                <a:srgbClr val="1226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263F"/>
              </a:solidFill>
              <a:ln w="9525" cap="flat">
                <a:solidFill>
                  <a:srgbClr val="1226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254</c:v>
                </c:pt>
                <c:pt idx="1">
                  <c:v>233</c:v>
                </c:pt>
                <c:pt idx="2">
                  <c:v>262</c:v>
                </c:pt>
                <c:pt idx="3">
                  <c:v>236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Gastritis</c:v>
                </c:pt>
              </c:strCache>
            </c:strRef>
          </c:tx>
          <c:spPr>
            <a:solidFill>
              <a:srgbClr val="BFC8D0"/>
            </a:solidFill>
            <a:ln w="25400" cap="flat">
              <a:solidFill>
                <a:srgbClr val="BFC8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FC8D0"/>
              </a:solidFill>
              <a:ln w="9525" cap="flat">
                <a:solidFill>
                  <a:srgbClr val="BFC8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265</c:v>
                </c:pt>
                <c:pt idx="1">
                  <c:v>239</c:v>
                </c:pt>
                <c:pt idx="2">
                  <c:v>275</c:v>
                </c:pt>
                <c:pt idx="3">
                  <c:v>238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0"/>
          <c:min val="190"/>
        </c:scaling>
        <c:delete val="0"/>
        <c:axPos val="l"/>
        <c:majorGridlines>
          <c:spPr>
            <a:ln w="635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1,000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Kigali City</c:v>
                  </c:pt>
                  <c:pt idx="1">
                    <c:v>Southern</c:v>
                  </c:pt>
                  <c:pt idx="2">
                    <c:v>Eastern</c:v>
                  </c:pt>
                  <c:pt idx="3">
                    <c:v>Western</c:v>
                  </c:pt>
                  <c:pt idx="4">
                    <c:v>Northern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239</c:v>
                </c:pt>
                <c:pt idx="1">
                  <c:v>247</c:v>
                </c:pt>
                <c:pt idx="2">
                  <c:v>247</c:v>
                </c:pt>
                <c:pt idx="3">
                  <c:v>257</c:v>
                </c:pt>
                <c:pt idx="4">
                  <c:v>260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b"/>
        <c:majorGridlines>
          <c:spPr>
            <a:ln w="635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briefing covers how the 20 HealthConnect hospitals performed in 2026 and what we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headline findings; each leads to a recommendation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limit: results by hospital and department rest on 5,000 traceable appointments.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KPIs from the Executive page of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and Q2. HF013 278 appointments; HF019 217.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Q4. Red bars are over 16 appointments per doctor; amber are about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Q6. Ratings are evenly spread, 20% each from 1 to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Q8. Unpaid amounts are almost equal across cash, card, mobile money and insurance (about RWF 230 million each), so the issue is follow-up, not one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 and Q9. The data has no service on a bill, so visit type is used as the service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Q3. All 60,000 diagnoses: Gastritis 12,208; Diabetes 12,083; Hypertension 12,075; Malaria 11,878; URI 11,756.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Q10. Hospital locations are not in the data, so provinces mean where the patient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Q7. Bed use is an estimate from admissions because the bed status field shows all beds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wins: items 2 and 3 are money; item 1 is staffing; item 5 enables better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Full detail is in the Business Insights Report, README, SQL scripts and Power BI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Operations and Performance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A900"/>
                </a:solidFill>
              </a:rPr>
              <a:t>Executive briefing for HealthConnect Rwanda leadership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E3"/>
                </a:solidFill>
              </a:rPr>
              <a:t>Okoro Joseph Ifeanyichukwu  |  Data Analytics Intern, AnalystLab Africa  |  Week 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097280" cy="10972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0" y="365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+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 that point to money and care we can recover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6E"/>
                </a:solidFill>
              </a:rPr>
              <a:t>Executive 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HealthConnect Rwanda |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to 16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appointments per doctor: same staff, uneven load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6042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RWF 920 M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36042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bills still unpaid (9.9%)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2.99 / 5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average rating; 4 in 10 are poor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3"/>
                </a:solidFill>
              </a:rPr>
              <a:t>Staffing does not follow demand.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Every hospital has 35 nurses and 17 to 18 doctors, whatever its patient load.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3"/>
                </a:solidFill>
              </a:rPr>
              <a:t>The busiest hospitals are among the least liked.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HF013 and HF014 rate 2.77 out of 5.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3"/>
                </a:solidFill>
              </a:rPr>
              <a:t>Cash is tied up.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Half of insurance claims (RWF 2.44 billion) are still pending.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F"/>
                </a:solidFill>
              </a:rPr>
              <a:t>Ask: re-balance doctors, chase unpaid bills and claims, and fix patient experience in the busiest hospitals.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analysis was done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6E"/>
                </a:solidFill>
              </a:rPr>
              <a:t>From 27 raw files to a six-page dashboard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HealthConnect Rwanda |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datasets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1"/>
                </a:solidFill>
              </a:rPr>
              <a:t>Patients, visits, bills, staff, feedback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9202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6E"/>
                </a:solidFill>
              </a:rPr>
              <a:t>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39696" y="14630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85416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1"/>
                </a:solidFill>
              </a:rPr>
              <a:t>Loaded and cleaned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94176" y="19202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6E"/>
                </a:solidFill>
              </a:rPr>
              <a:t>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22192" y="14630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67912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checks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13632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1"/>
                </a:solidFill>
              </a:rPr>
              <a:t>Duplicates, missing, invalid, links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76672" y="19202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6E"/>
                </a:solidFill>
              </a:rPr>
              <a:t>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04688" y="14630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50408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SQL questions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596128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1"/>
                </a:solidFill>
              </a:rPr>
              <a:t>Patients, visits, clinical, finance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59168" y="19202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6E"/>
                </a:solidFill>
              </a:rPr>
              <a:t>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87184" y="14630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32904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78624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1"/>
                </a:solidFill>
              </a:rPr>
              <a:t>6 pages, DAX measures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933"/>
                </a:solidFill>
              </a:rPr>
              <a:t>Only 5,000 appointments have full details.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3"/>
                </a:solidFill>
              </a:rPr>
              <a:t>Bills, diagnoses and ratings point to up to 60,000 appointments, but 92% are missing from the appointment list.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933"/>
                </a:solidFill>
              </a:rPr>
              <a:t>Totals use every record.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3"/>
                </a:solidFill>
              </a:rPr>
              <a:t>Hospital, department and province results use the traceable 5,000.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933"/>
                </a:solidFill>
              </a:rPr>
              <a:t>Hospitals appear only as codes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3"/>
                </a:solidFill>
              </a:rPr>
              <a:t>(HF001 to HF020); provinces mean where the patient lives.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at a glance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6E"/>
                </a:solidFill>
              </a:rPr>
              <a:t>2026, all amounts in Rwandan francs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HealthConnect Rwanda |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registered patients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6042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36042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detailed appointments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RWF 9.31 B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total billed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90.1%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of billing collected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27432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6042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11.7%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3360420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admission rate (5.5-day stay)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27432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16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staff to patients (1,250 staff)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F"/>
                </a:solidFill>
              </a:rPr>
              <a:t>27% of patients are over 65 and 74.6% have a chronic condition: demand for long-term care is high.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volume is fairly even across hospitals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6E"/>
                </a:solidFill>
              </a:rPr>
              <a:t>HF013, HF014 and HF010 are busiest; HF019 is quietest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HealthConnect Rwanda | 5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3504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</a:rPr>
              <a:t>Busiest departments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00200"/>
          <a:ext cx="26517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Visits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Cardiology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544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Radiology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525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Obstetrics &amp; Gyn.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511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Laboratory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499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Emergency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495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ICU (lowest)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467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F"/>
                </a:solidFill>
              </a:rPr>
              <a:t>The busiest hospital sees only 28% more patients than the quietest, so volume alone does not show overload.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staff, uneven workload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6E"/>
                </a:solidFill>
              </a:rPr>
              <a:t>Appointments per doctor, by hospital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HealthConnect Rwanda | 6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82296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F"/>
                </a:solidFill>
              </a:rPr>
              <a:t>Every hospital has 35 nurses and 17 to 18 doctors. Move or add doctors where the load is 16 or more.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Busy hospitals are among the least liked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6E"/>
                </a:solidFill>
              </a:rPr>
              <a:t>Average patient rating, out of 5 (average 2.99)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HealthConnect Rwanda | 7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577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3716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1463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40.5%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of ratings are 1 or 2 stars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26517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ICU 2.76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3383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lowest department; Emergency best (3.02)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F"/>
                </a:solidFill>
              </a:rPr>
              <a:t>HF013 and HF014 are the 1st and 2nd busiest and both rate 2.77. HF011 is busy and best rated: learn from it.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RWF 920 M unpaid, RWF 2.44 B in claims pending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6E"/>
                </a:solidFill>
              </a:rPr>
              <a:t>Money tied up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HealthConnect Rwanda | 8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128016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F"/>
                </a:solidFill>
              </a:rPr>
              <a:t>11,887 bills not fully paid. 36,052 bill status labels contradict the payments: fix records so finance sees what is owed.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Insurers are alike; revenue is spread evenly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6E"/>
                </a:solidFill>
              </a:rPr>
              <a:t>Insurance claims and where traceable revenue comes from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HealthConnect Rwanda | 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7548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097280"/>
                <a:gridCol w="82296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Insurer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Claims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Claimed (RWF)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Approved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 approved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Radiant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10,644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1.237 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50.1%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619.8 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Private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10,508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1.217 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49.3%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595.2 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RSSB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10,511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1.215 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50.9%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623.8 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MMI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10,373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1.213 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49.6%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604.4 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394960" y="1188720"/>
          <a:ext cx="32918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154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</a:rPr>
              <a:t>Top earning departments (traceable bills):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Cardiology RWF 86.2 M, Radiology 82.0 M, Laboratory 78.6 M. Average bill RWF 155,157.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F"/>
                </a:solidFill>
              </a:rPr>
              <a:t>No claim has been rejected; half are simply pending. Agree a 30-day approval target with each insurer.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equally common diagnoses; two to watch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6E"/>
                </a:solidFill>
              </a:rPr>
              <a:t>Diagnoses by quarter (traceable appointments): hypertension and respiratory infections rose in Q4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HealthConnect Rwanda | 10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371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33.3%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of 60,000 diagnoses are severe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26517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2743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 days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average hospital stay (5,000 admissions)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F"/>
                </a:solidFill>
              </a:rPr>
              <a:t>Q4 includes appointments dated after the analysis. Changes are small: treat as a watch-list.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Kigali City patients use hospitals least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6E"/>
                </a:solidFill>
              </a:rPr>
              <a:t>Appointments per 1,000 registered patients, by home province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HealthConnect Rwanda | 11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3716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1463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RWF 162 M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Western: most traceable revenue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265176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0" y="2743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RWF 146 M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Kigali City: least traceable revenue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F"/>
                </a:solidFill>
              </a:rPr>
              <a:t>Patients are spread evenly (3,923 to 4,091 per province); use is not. Investigate access in Kigali City, Southern and Eastern.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expand: more doctors, not more beds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6E"/>
                </a:solidFill>
              </a:rPr>
              <a:t>Hospitals that need capacity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HealthConnect Rwanda | 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280160"/>
                <a:gridCol w="1097280"/>
                <a:gridCol w="3108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Hospital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Appointments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 doctor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Rating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HF013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278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16.4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2.77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Add doctors first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HF014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276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16.2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2.77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Add doctors first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HF010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275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15.3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2.85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Next in line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HF011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273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16.1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3.19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Coping well: share practice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933"/>
                </a:solidFill>
              </a:rPr>
              <a:t>Beds are not the limit.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3"/>
                </a:solidFill>
              </a:rPr>
              <a:t>About 27,400 bed-days were used out of 730,000 available (estimated 3.8%), and all 2,000 beds are listed as available.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933"/>
                </a:solidFill>
              </a:rPr>
              <a:t>Pressure is on consultation time.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3"/>
                </a:solidFill>
              </a:rPr>
              <a:t>That points to doctors and clinic rooms, not wards.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F"/>
                </a:solidFill>
              </a:rPr>
              <a:t>Start with HF013 and HF014: top-two volume, 16+ appointments per doctor, among the lowest ratings.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recommendations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6E"/>
                </a:solidFill>
              </a:rPr>
              <a:t>What to do, and where to start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HealthConnect Rwanda | 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65176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Start with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1. Re-balance doctors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12 to 16 appointments per doctor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HF013, HF014, HF011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2. Payment follow-up drive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RWF 920 M unpaid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Largest of the 11,887 unpaid bills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3. Clear claim backlog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RWF 2.44 B pending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RSSB and Radiant; 30-day target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4. Patient-experience programme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40.5% poor ratings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HF013, HF014, HF007, HF020, ICU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5. Fix the data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Names, links, bill status, no-shows missing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Assign an owner and deadline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6. Study access in Kigali City, Southern, Eastern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Lowest use per patient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Outreach plus patient survey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could not tell us, and next steps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HealthConnect Rwanda |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</a:rPr>
              <a:t>No hospital names, types or locations (codes only)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</a:rPr>
              <a:t>Only 5,000 of 60,000 appointments are detailed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</a:rPr>
              <a:t>916 appointments dated after the analysis date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</a:rPr>
              <a:t>No cancellation field; beds all "Available"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</a:rPr>
              <a:t>Revenue Summary (RWF 1.13 B) does not match bills (RWF 9.31 B)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</a:rPr>
              <a:t>Phone numbers damaged; not used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716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</a:rPr>
              <a:t>Share findings with the Chief Medical Officer and Finance Director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</a:rPr>
              <a:t>Load the full 60,000-appointment list and hospital master data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</a:rPr>
              <a:t>Refresh the six-page dashboard monthly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</a:rPr>
              <a:t>Track: doctors per appointment, unpaid bills, pending claims, rating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F"/>
                </a:solidFill>
              </a:rPr>
              <a:t>Thank you. Questions?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Connect">
  <a:themeElements>
    <a:clrScheme name="HealthConnect">
      <a:dk1>
        <a:srgbClr val="1F2933"/>
      </a:dk1>
      <a:lt1>
        <a:srgbClr val="FFFFFF"/>
      </a:lt1>
      <a:dk2>
        <a:srgbClr val="12263F"/>
      </a:dk2>
      <a:lt2>
        <a:srgbClr val="F4F6F8"/>
      </a:lt2>
      <a:accent1>
        <a:srgbClr val="0F6E6E"/>
      </a:accent1>
      <a:accent2>
        <a:srgbClr val="F2A900"/>
      </a:accent2>
      <a:accent3>
        <a:srgbClr val="C62828"/>
      </a:accent3>
      <a:accent4>
        <a:srgbClr val="2E7D32"/>
      </a:accent4>
      <a:accent5>
        <a:srgbClr val="BFC8D0"/>
      </a:accent5>
      <a:accent6>
        <a:srgbClr val="5B7C99"/>
      </a:accent6>
      <a:hlink>
        <a:srgbClr val="0F6E6E"/>
      </a:hlink>
      <a:folHlink>
        <a:srgbClr val="5B7C99"/>
      </a:folHlink>
    </a:clrScheme>
    <a:fontScheme name="HealthConnec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 Rwanda - Executive Presentation</dc:title>
  <dc:subject>PptxGenJS Presentation</dc:subject>
  <dc:creator>Okoro Joseph Ifeanyichukwu</dc:creator>
  <cp:lastModifiedBy>Okoro Joseph Ifeanyichukwu</cp:lastModifiedBy>
  <cp:revision>1</cp:revision>
  <dcterms:created xsi:type="dcterms:W3CDTF">2026-10-24T19:31:04Z</dcterms:created>
  <dcterms:modified xsi:type="dcterms:W3CDTF">2026-10-24T19:31:04Z</dcterms:modified>
</cp:coreProperties>
</file>